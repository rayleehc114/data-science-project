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12192000" cy="6858000"/>
  <p:notesSz cx="6858000" cy="9144000"/>
  <p:embeddedFontLst>
    <p:embeddedFont>
      <p:font typeface="Inter" panose="02000503000000020004" pitchFamily="2" charset="0"/>
      <p:regular r:id="rId19"/>
      <p:bold r:id="rId20"/>
      <p:italic r:id="rId21"/>
      <p:boldItalic r:id="rId22"/>
    </p:embeddedFont>
    <p:embeddedFont>
      <p:font typeface="Merriweather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7493FD7-223F-4907-B849-570A1FF9E3B0}">
  <a:tblStyle styleId="{C7493FD7-223F-4907-B849-570A1FF9E3B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6236D82-902C-4141-B577-744DDAEC85C2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>
        <p:scale>
          <a:sx n="123" d="100"/>
          <a:sy n="123" d="100"/>
        </p:scale>
        <p:origin x="696" y="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05d52afa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g3d05d52afa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05d52afa7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g3d05d52afa7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d05d52afa7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3d05d52afa7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d05d52afa7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g3d05d52afa7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d073a511fd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d073a511fd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d05d52afa7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3d05d52afa7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d05d52afa7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g3d05d52afa7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d073a511fd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g3d073a511f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d073a511fd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g3d073a511fd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>
          <a:extLst>
            <a:ext uri="{FF2B5EF4-FFF2-40B4-BE49-F238E27FC236}">
              <a16:creationId xmlns:a16="http://schemas.microsoft.com/office/drawing/2014/main" id="{ED40039D-D12C-8A68-6A1C-8EDE839BB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d073a511fd_0_12:notes">
            <a:extLst>
              <a:ext uri="{FF2B5EF4-FFF2-40B4-BE49-F238E27FC236}">
                <a16:creationId xmlns:a16="http://schemas.microsoft.com/office/drawing/2014/main" id="{87BBBCEC-88F0-8889-8387-143AAC3520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g3d073a511fd_0_12:notes">
            <a:extLst>
              <a:ext uri="{FF2B5EF4-FFF2-40B4-BE49-F238E27FC236}">
                <a16:creationId xmlns:a16="http://schemas.microsoft.com/office/drawing/2014/main" id="{2FD18A72-D217-4AF3-76F2-8C15C993E1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27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yasirumanujith/usa-real-estate-datase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4134742"/>
            <a:ext cx="9239250" cy="134674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62000" y="1376511"/>
            <a:ext cx="9701100" cy="1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dirty="0">
                <a:solidFill>
                  <a:srgbClr val="1E40AF"/>
                </a:solidFill>
                <a:latin typeface="Merriweather"/>
                <a:ea typeface="Merriweather"/>
                <a:cs typeface="Merriweather"/>
                <a:sym typeface="Merriweather"/>
              </a:rPr>
              <a:t>Comparative Analysis of Automated US Housing Valuation Models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2755552"/>
            <a:ext cx="9239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>
                <a:solidFill>
                  <a:srgbClr val="6FA8DC"/>
                </a:solidFill>
                <a:latin typeface="Inter"/>
                <a:ea typeface="Inter"/>
                <a:cs typeface="Inter"/>
                <a:sym typeface="Inter"/>
              </a:rPr>
              <a:t>OLS, LASSO, </a:t>
            </a:r>
            <a:r>
              <a:rPr lang="en-US" sz="2100" b="1" dirty="0" err="1">
                <a:solidFill>
                  <a:srgbClr val="6FA8DC"/>
                </a:solidFill>
                <a:latin typeface="Inter"/>
                <a:ea typeface="Inter"/>
                <a:cs typeface="Inter"/>
                <a:sym typeface="Inter"/>
              </a:rPr>
              <a:t>XGBoost</a:t>
            </a:r>
            <a:endParaRPr b="1" dirty="0">
              <a:solidFill>
                <a:srgbClr val="6FA8DC"/>
              </a:solidFill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9BDCF62-5CB9-C811-A1A0-B6C3D322FFA3}"/>
              </a:ext>
            </a:extLst>
          </p:cNvPr>
          <p:cNvGrpSpPr/>
          <p:nvPr/>
        </p:nvGrpSpPr>
        <p:grpSpPr>
          <a:xfrm>
            <a:off x="3959025" y="5346826"/>
            <a:ext cx="2845200" cy="598069"/>
            <a:chOff x="3959025" y="4571325"/>
            <a:chExt cx="2845200" cy="598069"/>
          </a:xfrm>
        </p:grpSpPr>
        <p:sp>
          <p:nvSpPr>
            <p:cNvPr id="87" name="Google Shape;87;p13"/>
            <p:cNvSpPr txBox="1"/>
            <p:nvPr/>
          </p:nvSpPr>
          <p:spPr>
            <a:xfrm>
              <a:off x="3959025" y="4571325"/>
              <a:ext cx="28452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 dirty="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Presenter</a:t>
              </a:r>
              <a:r>
                <a:rPr lang="en-US" sz="1350" b="1" i="0" u="none" strike="noStrike" cap="none" dirty="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:</a:t>
              </a:r>
              <a:r>
                <a:rPr lang="en-US" sz="1350" b="0" i="0" u="none" strike="noStrike" cap="none" dirty="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350" dirty="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Jingrui LI — jl2543</a:t>
              </a:r>
              <a:endParaRPr dirty="0"/>
            </a:p>
          </p:txBody>
        </p:sp>
        <p:sp>
          <p:nvSpPr>
            <p:cNvPr id="88" name="Google Shape;88;p13"/>
            <p:cNvSpPr txBox="1"/>
            <p:nvPr/>
          </p:nvSpPr>
          <p:spPr>
            <a:xfrm>
              <a:off x="3959025" y="4836995"/>
              <a:ext cx="2845200" cy="3323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 i="0" u="none" strike="noStrike" cap="none" dirty="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Date:</a:t>
              </a:r>
              <a:r>
                <a:rPr lang="en-US" sz="1350" b="0" i="0" u="none" strike="noStrike" cap="none" dirty="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350" dirty="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25 March, 2026</a:t>
              </a:r>
              <a:endParaRPr dirty="0"/>
            </a:p>
          </p:txBody>
        </p:sp>
      </p:grpSp>
      <p:sp>
        <p:nvSpPr>
          <p:cNvPr id="89" name="Google Shape;89;p13"/>
          <p:cNvSpPr txBox="1"/>
          <p:nvPr/>
        </p:nvSpPr>
        <p:spPr>
          <a:xfrm>
            <a:off x="3186517" y="4829761"/>
            <a:ext cx="485206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D200 </a:t>
            </a:r>
            <a:r>
              <a:rPr lang="en-US" sz="21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Machine Learning in Economics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/>
        </p:nvSpPr>
        <p:spPr>
          <a:xfrm>
            <a:off x="1095375" y="1638300"/>
            <a:ext cx="88608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5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Housing valuation is an important economic topic within the financial systems.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1095375" y="2208012"/>
            <a:ext cx="88608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House prices show great heterogeneity across regions and various property characteristics</a:t>
            </a:r>
            <a:endParaRPr sz="1650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1095375" y="3429000"/>
            <a:ext cx="88608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  <a:buClr>
                <a:schemeClr val="dk1"/>
              </a:buClr>
            </a:pPr>
            <a:r>
              <a:rPr lang="en-US" sz="1650" b="1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KEY QUESTION</a:t>
            </a:r>
            <a:endParaRPr sz="1650" b="1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762000" y="1736657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2328612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762000" y="571500"/>
            <a:ext cx="112014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Motivation &amp; 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Research Question</a:t>
            </a:r>
            <a:endParaRPr dirty="0"/>
          </a:p>
        </p:txBody>
      </p:sp>
      <p:sp>
        <p:nvSpPr>
          <p:cNvPr id="106" name="Google Shape;106;p14"/>
          <p:cNvSpPr/>
          <p:nvPr/>
        </p:nvSpPr>
        <p:spPr>
          <a:xfrm>
            <a:off x="762000" y="123825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F48BFB1-2DBC-D58C-64FD-0E11B29368C8}"/>
              </a:ext>
            </a:extLst>
          </p:cNvPr>
          <p:cNvGrpSpPr/>
          <p:nvPr/>
        </p:nvGrpSpPr>
        <p:grpSpPr>
          <a:xfrm>
            <a:off x="762000" y="4094372"/>
            <a:ext cx="9194175" cy="1218795"/>
            <a:chOff x="762000" y="3594641"/>
            <a:chExt cx="9194175" cy="1218795"/>
          </a:xfrm>
        </p:grpSpPr>
        <p:sp>
          <p:nvSpPr>
            <p:cNvPr id="2" name="Google Shape;99;p14">
              <a:extLst>
                <a:ext uri="{FF2B5EF4-FFF2-40B4-BE49-F238E27FC236}">
                  <a16:creationId xmlns:a16="http://schemas.microsoft.com/office/drawing/2014/main" id="{DBF0828D-3EA3-D15E-AAB6-B77F87D488CC}"/>
                </a:ext>
              </a:extLst>
            </p:cNvPr>
            <p:cNvSpPr txBox="1">
              <a:spLocks/>
            </p:cNvSpPr>
            <p:nvPr/>
          </p:nvSpPr>
          <p:spPr>
            <a:xfrm>
              <a:off x="1095375" y="3594641"/>
              <a:ext cx="8860800" cy="12187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60000"/>
                </a:lnSpc>
                <a:buClr>
                  <a:schemeClr val="dk1"/>
                </a:buClr>
              </a:pPr>
              <a:r>
                <a:rPr lang="en-US" sz="1650" b="1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By using coarse-grained location data and observable property characteristics,</a:t>
              </a:r>
              <a:r>
                <a:rPr lang="en-US" altLang="zh-CN" sz="1650" b="1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can machine learning improve housing price prediction relative to linear benchmark models?</a:t>
              </a:r>
              <a:r>
                <a:rPr lang="en-US" sz="1650" b="1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endParaRPr sz="1650" b="1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" name="Google Shape;103;p14">
              <a:extLst>
                <a:ext uri="{FF2B5EF4-FFF2-40B4-BE49-F238E27FC236}">
                  <a16:creationId xmlns:a16="http://schemas.microsoft.com/office/drawing/2014/main" id="{A8D2FF41-B014-26B2-1CA3-F6019CDB0D98}"/>
                </a:ext>
              </a:extLst>
            </p:cNvPr>
            <p:cNvSpPr txBox="1"/>
            <p:nvPr/>
          </p:nvSpPr>
          <p:spPr>
            <a:xfrm>
              <a:off x="762000" y="3699585"/>
              <a:ext cx="76200" cy="209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99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 dirty="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■</a:t>
              </a:r>
              <a:endParaRPr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/>
        </p:nvSpPr>
        <p:spPr>
          <a:xfrm>
            <a:off x="1095375" y="1638300"/>
            <a:ext cx="51738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Dataset: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U.S. real estate housing dataset on </a:t>
            </a:r>
            <a:r>
              <a:rPr lang="en-US" sz="165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Kaggle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dirty="0"/>
          </a:p>
        </p:txBody>
      </p:sp>
      <p:sp>
        <p:nvSpPr>
          <p:cNvPr id="112" name="Google Shape;112;p15"/>
          <p:cNvSpPr txBox="1"/>
          <p:nvPr/>
        </p:nvSpPr>
        <p:spPr>
          <a:xfrm>
            <a:off x="1095375" y="2144910"/>
            <a:ext cx="51738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Observation</a:t>
            </a:r>
            <a:r>
              <a:rPr lang="en-US" sz="165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1.47 million observations</a:t>
            </a:r>
            <a:endParaRPr dirty="0"/>
          </a:p>
        </p:txBody>
      </p:sp>
      <p:sp>
        <p:nvSpPr>
          <p:cNvPr id="113" name="Google Shape;113;p15"/>
          <p:cNvSpPr txBox="1"/>
          <p:nvPr/>
        </p:nvSpPr>
        <p:spPr>
          <a:xfrm>
            <a:off x="6789550" y="1638296"/>
            <a:ext cx="51738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16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umerical features: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bed, bath, house_size, acre_lot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789550" y="2144893"/>
            <a:ext cx="51738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Location features: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city, state, area_type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762000" y="1657350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762000" y="2163960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6456175" y="1657346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456175" y="2163950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762000" y="571500"/>
            <a:ext cx="112014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Dataset and Variables</a:t>
            </a:r>
            <a:endParaRPr dirty="0"/>
          </a:p>
        </p:txBody>
      </p:sp>
      <p:sp>
        <p:nvSpPr>
          <p:cNvPr id="120" name="Google Shape;120;p15"/>
          <p:cNvSpPr/>
          <p:nvPr/>
        </p:nvSpPr>
        <p:spPr>
          <a:xfrm>
            <a:off x="762000" y="123825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0" y="6578950"/>
            <a:ext cx="7549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for the dataset: </a:t>
            </a:r>
            <a:r>
              <a:rPr lang="en-US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https://www.kaggle.com/datasets/yasirumanujith/usa-real-estate-dataset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EC9A517-6B5A-AA0F-7E73-E2B7220477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507" y="3278941"/>
            <a:ext cx="8716985" cy="3306442"/>
          </a:xfrm>
          <a:prstGeom prst="rect">
            <a:avLst/>
          </a:prstGeom>
        </p:spPr>
      </p:pic>
      <p:sp>
        <p:nvSpPr>
          <p:cNvPr id="5" name="Google Shape;112;p15">
            <a:extLst>
              <a:ext uri="{FF2B5EF4-FFF2-40B4-BE49-F238E27FC236}">
                <a16:creationId xmlns:a16="http://schemas.microsoft.com/office/drawing/2014/main" id="{45271E14-2DEE-0D4A-466B-E4837BC3A77D}"/>
              </a:ext>
            </a:extLst>
          </p:cNvPr>
          <p:cNvSpPr txBox="1"/>
          <p:nvPr/>
        </p:nvSpPr>
        <p:spPr>
          <a:xfrm>
            <a:off x="1095375" y="2670570"/>
            <a:ext cx="51738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Target variable: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price (after log transformation)</a:t>
            </a:r>
            <a:endParaRPr dirty="0"/>
          </a:p>
        </p:txBody>
      </p:sp>
      <p:sp>
        <p:nvSpPr>
          <p:cNvPr id="6" name="Google Shape;116;p15">
            <a:extLst>
              <a:ext uri="{FF2B5EF4-FFF2-40B4-BE49-F238E27FC236}">
                <a16:creationId xmlns:a16="http://schemas.microsoft.com/office/drawing/2014/main" id="{9C44C2C0-6683-EAEB-C717-2CA321D2DD03}"/>
              </a:ext>
            </a:extLst>
          </p:cNvPr>
          <p:cNvSpPr txBox="1"/>
          <p:nvPr/>
        </p:nvSpPr>
        <p:spPr>
          <a:xfrm>
            <a:off x="762000" y="2689620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 dirty="0"/>
          </a:p>
        </p:txBody>
      </p:sp>
      <p:sp>
        <p:nvSpPr>
          <p:cNvPr id="7" name="Google Shape;112;p15">
            <a:extLst>
              <a:ext uri="{FF2B5EF4-FFF2-40B4-BE49-F238E27FC236}">
                <a16:creationId xmlns:a16="http://schemas.microsoft.com/office/drawing/2014/main" id="{49FDB037-50C2-A597-F696-828984148292}"/>
              </a:ext>
            </a:extLst>
          </p:cNvPr>
          <p:cNvSpPr txBox="1"/>
          <p:nvPr/>
        </p:nvSpPr>
        <p:spPr>
          <a:xfrm>
            <a:off x="6789550" y="2660871"/>
            <a:ext cx="51738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Limitation: </a:t>
            </a:r>
            <a:r>
              <a:rPr lang="en-US" sz="1650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relativel</a:t>
            </a:r>
            <a:r>
              <a:rPr lang="en-US" sz="1650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y coarse-grained data</a:t>
            </a:r>
            <a:endParaRPr dirty="0"/>
          </a:p>
        </p:txBody>
      </p:sp>
      <p:sp>
        <p:nvSpPr>
          <p:cNvPr id="8" name="Google Shape;116;p15">
            <a:extLst>
              <a:ext uri="{FF2B5EF4-FFF2-40B4-BE49-F238E27FC236}">
                <a16:creationId xmlns:a16="http://schemas.microsoft.com/office/drawing/2014/main" id="{381C3B05-ADB1-6476-E207-DB9422485EDB}"/>
              </a:ext>
            </a:extLst>
          </p:cNvPr>
          <p:cNvSpPr txBox="1"/>
          <p:nvPr/>
        </p:nvSpPr>
        <p:spPr>
          <a:xfrm>
            <a:off x="6456175" y="2679921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/>
          <p:nvPr/>
        </p:nvSpPr>
        <p:spPr>
          <a:xfrm>
            <a:off x="1095375" y="1638300"/>
            <a:ext cx="77277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Dropped implausible observations with price &lt;$10,000</a:t>
            </a:r>
            <a:endParaRPr dirty="0"/>
          </a:p>
        </p:txBody>
      </p:sp>
      <p:sp>
        <p:nvSpPr>
          <p:cNvPr id="128" name="Google Shape;128;p16"/>
          <p:cNvSpPr txBox="1"/>
          <p:nvPr/>
        </p:nvSpPr>
        <p:spPr>
          <a:xfrm>
            <a:off x="1095375" y="2144900"/>
            <a:ext cx="108681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Winsorized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 continuous variables at </a:t>
            </a:r>
            <a:r>
              <a:rPr lang="en-US" sz="165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-US" sz="1650" baseline="3000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</a:t>
            </a:r>
            <a:r>
              <a:rPr lang="en-US" sz="165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and 99</a:t>
            </a:r>
            <a:r>
              <a:rPr lang="en-US" sz="1650" baseline="3000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</a:t>
            </a:r>
            <a:r>
              <a:rPr lang="en-US" sz="165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percentiles, bed and bath capped at 10 and 7, respectively</a:t>
            </a:r>
            <a:endParaRPr dirty="0"/>
          </a:p>
        </p:txBody>
      </p:sp>
      <p:sp>
        <p:nvSpPr>
          <p:cNvPr id="129" name="Google Shape;129;p16"/>
          <p:cNvSpPr txBox="1"/>
          <p:nvPr/>
        </p:nvSpPr>
        <p:spPr>
          <a:xfrm>
            <a:off x="1095375" y="2651500"/>
            <a:ext cx="93018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Group infrequent “State” and “City” into ”other” category</a:t>
            </a:r>
            <a:endParaRPr dirty="0"/>
          </a:p>
        </p:txBody>
      </p:sp>
      <p:sp>
        <p:nvSpPr>
          <p:cNvPr id="130" name="Google Shape;130;p16"/>
          <p:cNvSpPr txBox="1"/>
          <p:nvPr/>
        </p:nvSpPr>
        <p:spPr>
          <a:xfrm>
            <a:off x="1095375" y="3158100"/>
            <a:ext cx="70860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Applied log transformation to price and selected continuous variables </a:t>
            </a:r>
            <a:endParaRPr dirty="0"/>
          </a:p>
        </p:txBody>
      </p:sp>
      <p:sp>
        <p:nvSpPr>
          <p:cNvPr id="131" name="Google Shape;131;p16"/>
          <p:cNvSpPr txBox="1"/>
          <p:nvPr/>
        </p:nvSpPr>
        <p:spPr>
          <a:xfrm>
            <a:off x="762000" y="1657350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762000" y="2163960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762000" y="2670546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762000" y="3177150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 dirty="0"/>
          </a:p>
        </p:txBody>
      </p:sp>
      <p:sp>
        <p:nvSpPr>
          <p:cNvPr id="135" name="Google Shape;135;p16"/>
          <p:cNvSpPr txBox="1"/>
          <p:nvPr/>
        </p:nvSpPr>
        <p:spPr>
          <a:xfrm>
            <a:off x="762000" y="571500"/>
            <a:ext cx="112014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Exploratory Data Analysis and Wrangling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762000" y="12382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16" title="截屏2026-03-16 16.26.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475" y="3640800"/>
            <a:ext cx="11079050" cy="28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459EC156-729F-0182-02E5-164AE13904AB}"/>
              </a:ext>
            </a:extLst>
          </p:cNvPr>
          <p:cNvGrpSpPr/>
          <p:nvPr/>
        </p:nvGrpSpPr>
        <p:grpSpPr>
          <a:xfrm>
            <a:off x="1119250" y="3661339"/>
            <a:ext cx="9611050" cy="406265"/>
            <a:chOff x="1133500" y="3682045"/>
            <a:chExt cx="9611050" cy="406265"/>
          </a:xfrm>
        </p:grpSpPr>
        <p:sp>
          <p:nvSpPr>
            <p:cNvPr id="142" name="Google Shape;142;p17"/>
            <p:cNvSpPr txBox="1"/>
            <p:nvPr/>
          </p:nvSpPr>
          <p:spPr>
            <a:xfrm>
              <a:off x="1452650" y="3682045"/>
              <a:ext cx="9291900" cy="4062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60000"/>
                </a:lnSpc>
                <a:buClr>
                  <a:schemeClr val="dk1"/>
                </a:buClr>
              </a:pPr>
              <a:r>
                <a:rPr lang="en-US" altLang="zh-CN" sz="1650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Data split into </a:t>
              </a:r>
              <a:r>
                <a:rPr lang="en-US" altLang="zh-CN" sz="1650" b="1" dirty="0" err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Trainval</a:t>
              </a:r>
              <a:r>
                <a:rPr lang="en-US" altLang="zh-CN" sz="1650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set and </a:t>
              </a:r>
              <a:r>
                <a:rPr lang="en-US" altLang="zh-CN" sz="1650" b="1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Test </a:t>
              </a:r>
              <a:r>
                <a:rPr lang="en-US" altLang="zh-CN" sz="1650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set by 80/20</a:t>
              </a:r>
              <a:endParaRPr sz="165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5" name="Google Shape;145;p17"/>
            <p:cNvSpPr txBox="1"/>
            <p:nvPr/>
          </p:nvSpPr>
          <p:spPr>
            <a:xfrm>
              <a:off x="1133500" y="3723477"/>
              <a:ext cx="76200" cy="1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99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 dirty="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■</a:t>
              </a:r>
              <a:endParaRPr dirty="0"/>
            </a:p>
          </p:txBody>
        </p:sp>
      </p:grpSp>
      <p:sp>
        <p:nvSpPr>
          <p:cNvPr id="148" name="Google Shape;148;p17"/>
          <p:cNvSpPr txBox="1"/>
          <p:nvPr/>
        </p:nvSpPr>
        <p:spPr>
          <a:xfrm>
            <a:off x="762000" y="571500"/>
            <a:ext cx="112014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Models and Implementation (1)</a:t>
            </a:r>
            <a:endParaRPr dirty="0"/>
          </a:p>
        </p:txBody>
      </p:sp>
      <p:sp>
        <p:nvSpPr>
          <p:cNvPr id="149" name="Google Shape;149;p17"/>
          <p:cNvSpPr/>
          <p:nvPr/>
        </p:nvSpPr>
        <p:spPr>
          <a:xfrm>
            <a:off x="762000" y="123825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B24FA0F-E00E-1F68-717A-670783951590}"/>
              </a:ext>
            </a:extLst>
          </p:cNvPr>
          <p:cNvGrpSpPr/>
          <p:nvPr/>
        </p:nvGrpSpPr>
        <p:grpSpPr>
          <a:xfrm>
            <a:off x="1119250" y="4595109"/>
            <a:ext cx="9801975" cy="812530"/>
            <a:chOff x="1095400" y="4565095"/>
            <a:chExt cx="9801975" cy="812530"/>
          </a:xfrm>
        </p:grpSpPr>
        <p:sp>
          <p:nvSpPr>
            <p:cNvPr id="150" name="Google Shape;150;p17"/>
            <p:cNvSpPr txBox="1"/>
            <p:nvPr/>
          </p:nvSpPr>
          <p:spPr>
            <a:xfrm>
              <a:off x="1428775" y="4565095"/>
              <a:ext cx="9468600" cy="8125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dirty="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Categorical variables are </a:t>
              </a:r>
              <a:r>
                <a:rPr lang="en-US" sz="1650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one-hot encoded for LASSO and </a:t>
              </a:r>
              <a:r>
                <a:rPr lang="en-US" sz="1650" dirty="0" err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XGBoost</a:t>
              </a:r>
              <a:r>
                <a:rPr lang="en-US" sz="1650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numerical variables are left without unchanged</a:t>
              </a:r>
              <a:endParaRPr dirty="0"/>
            </a:p>
          </p:txBody>
        </p:sp>
        <p:sp>
          <p:nvSpPr>
            <p:cNvPr id="152" name="Google Shape;152;p17"/>
            <p:cNvSpPr txBox="1"/>
            <p:nvPr/>
          </p:nvSpPr>
          <p:spPr>
            <a:xfrm>
              <a:off x="1095400" y="4634277"/>
              <a:ext cx="76200" cy="1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99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 dirty="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■</a:t>
              </a:r>
              <a:endParaRPr dirty="0"/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2113FEE-AC1E-43A5-A586-CB0D2B7DFE20}"/>
              </a:ext>
            </a:extLst>
          </p:cNvPr>
          <p:cNvGrpSpPr/>
          <p:nvPr/>
        </p:nvGrpSpPr>
        <p:grpSpPr>
          <a:xfrm>
            <a:off x="1119250" y="5407639"/>
            <a:ext cx="9825825" cy="406275"/>
            <a:chOff x="1095400" y="5849235"/>
            <a:chExt cx="9825825" cy="406275"/>
          </a:xfrm>
        </p:grpSpPr>
        <p:sp>
          <p:nvSpPr>
            <p:cNvPr id="154" name="Google Shape;154;p17"/>
            <p:cNvSpPr txBox="1"/>
            <p:nvPr/>
          </p:nvSpPr>
          <p:spPr>
            <a:xfrm>
              <a:off x="1452625" y="5849245"/>
              <a:ext cx="9468600" cy="4062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dirty="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LASSO Tuning:</a:t>
              </a:r>
              <a:r>
                <a:rPr lang="en-US" sz="1650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Alpha is tuned by a 3-fold cross-validation</a:t>
              </a:r>
              <a:endParaRPr sz="165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5" name="Google Shape;155;p17"/>
            <p:cNvSpPr txBox="1"/>
            <p:nvPr/>
          </p:nvSpPr>
          <p:spPr>
            <a:xfrm>
              <a:off x="1095400" y="5849235"/>
              <a:ext cx="76200" cy="1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99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 dirty="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■</a:t>
              </a:r>
              <a:endParaRPr dirty="0"/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B3E0EE59-0113-DB70-97A3-253298469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983" y="1952638"/>
            <a:ext cx="9968342" cy="1244023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10CD0690-0228-105B-D62C-BE4FA9C2303E}"/>
              </a:ext>
            </a:extLst>
          </p:cNvPr>
          <p:cNvGrpSpPr/>
          <p:nvPr/>
        </p:nvGrpSpPr>
        <p:grpSpPr>
          <a:xfrm>
            <a:off x="1119250" y="4128224"/>
            <a:ext cx="9611050" cy="406265"/>
            <a:chOff x="1133500" y="3702761"/>
            <a:chExt cx="9611050" cy="406265"/>
          </a:xfrm>
        </p:grpSpPr>
        <p:sp>
          <p:nvSpPr>
            <p:cNvPr id="8" name="Google Shape;142;p17">
              <a:extLst>
                <a:ext uri="{FF2B5EF4-FFF2-40B4-BE49-F238E27FC236}">
                  <a16:creationId xmlns:a16="http://schemas.microsoft.com/office/drawing/2014/main" id="{0729FD75-A797-9F57-4660-50B974AD5BA2}"/>
                </a:ext>
              </a:extLst>
            </p:cNvPr>
            <p:cNvSpPr txBox="1"/>
            <p:nvPr/>
          </p:nvSpPr>
          <p:spPr>
            <a:xfrm>
              <a:off x="1452650" y="3702761"/>
              <a:ext cx="9291900" cy="4062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60000"/>
                </a:lnSpc>
                <a:buClr>
                  <a:schemeClr val="dk1"/>
                </a:buClr>
              </a:pPr>
              <a:r>
                <a:rPr lang="en-US" altLang="zh-CN" sz="1650" b="1" dirty="0" err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Trainval</a:t>
              </a:r>
              <a:r>
                <a:rPr lang="en-US" altLang="zh-CN" sz="1650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set acts as the training set for OLS and LASSO</a:t>
              </a:r>
              <a:endParaRPr sz="165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" name="Google Shape;145;p17">
              <a:extLst>
                <a:ext uri="{FF2B5EF4-FFF2-40B4-BE49-F238E27FC236}">
                  <a16:creationId xmlns:a16="http://schemas.microsoft.com/office/drawing/2014/main" id="{679C7925-3EFD-2452-95B6-4AF2E33AAB60}"/>
                </a:ext>
              </a:extLst>
            </p:cNvPr>
            <p:cNvSpPr txBox="1"/>
            <p:nvPr/>
          </p:nvSpPr>
          <p:spPr>
            <a:xfrm>
              <a:off x="1133500" y="3723477"/>
              <a:ext cx="76200" cy="1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99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 dirty="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■</a:t>
              </a:r>
              <a:endParaRPr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 txBox="1"/>
          <p:nvPr/>
        </p:nvSpPr>
        <p:spPr>
          <a:xfrm>
            <a:off x="1095375" y="2138813"/>
            <a:ext cx="9291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XGBoost</a:t>
            </a:r>
            <a:r>
              <a:rPr lang="en-US" sz="1650" b="1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65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nonlinear tree-based model that captures interactions and nonlinearities</a:t>
            </a:r>
            <a:endParaRPr dirty="0"/>
          </a:p>
        </p:txBody>
      </p:sp>
      <p:sp>
        <p:nvSpPr>
          <p:cNvPr id="161" name="Google Shape;161;p18"/>
          <p:cNvSpPr txBox="1"/>
          <p:nvPr/>
        </p:nvSpPr>
        <p:spPr>
          <a:xfrm>
            <a:off x="1095374" y="2624300"/>
            <a:ext cx="9291900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Hyperparameters Tuning: </a:t>
            </a:r>
            <a:r>
              <a:rPr lang="en-US" sz="1650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hyperparameters are tuned by 3-fold cross-validation on a random subsample (500,000 observations) for computational efficiency</a:t>
            </a:r>
            <a:endParaRPr sz="1650" dirty="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1095400" y="3456663"/>
            <a:ext cx="92919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dirty="0">
                <a:solidFill>
                  <a:srgbClr val="0F172A"/>
                </a:solidFill>
                <a:latin typeface="Inter"/>
                <a:ea typeface="Inter"/>
                <a:sym typeface="Inter"/>
              </a:rPr>
              <a:t>Ater tuning, the model is retrained on the whole </a:t>
            </a:r>
            <a:r>
              <a:rPr lang="en-US" sz="1650" b="1" dirty="0">
                <a:solidFill>
                  <a:srgbClr val="0F172A"/>
                </a:solidFill>
                <a:latin typeface="Inter"/>
                <a:ea typeface="Inter"/>
                <a:sym typeface="Inter"/>
              </a:rPr>
              <a:t>Train</a:t>
            </a:r>
            <a:r>
              <a:rPr lang="en-US" sz="1650" dirty="0">
                <a:solidFill>
                  <a:srgbClr val="0F172A"/>
                </a:solidFill>
                <a:latin typeface="Inter"/>
                <a:ea typeface="Inter"/>
                <a:sym typeface="Inter"/>
              </a:rPr>
              <a:t> set</a:t>
            </a:r>
            <a:endParaRPr dirty="0"/>
          </a:p>
        </p:txBody>
      </p:sp>
      <p:sp>
        <p:nvSpPr>
          <p:cNvPr id="164" name="Google Shape;164;p18"/>
          <p:cNvSpPr txBox="1"/>
          <p:nvPr/>
        </p:nvSpPr>
        <p:spPr>
          <a:xfrm>
            <a:off x="762000" y="2157863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761988" y="2693470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762025" y="3475717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762000" y="571500"/>
            <a:ext cx="112014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Models and Implementation (2)</a:t>
            </a:r>
            <a:endParaRPr dirty="0"/>
          </a:p>
        </p:txBody>
      </p:sp>
      <p:sp>
        <p:nvSpPr>
          <p:cNvPr id="169" name="Google Shape;169;p18"/>
          <p:cNvSpPr/>
          <p:nvPr/>
        </p:nvSpPr>
        <p:spPr>
          <a:xfrm>
            <a:off x="762000" y="12382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1095374" y="3884925"/>
            <a:ext cx="9291900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Early Stopping:</a:t>
            </a:r>
            <a:r>
              <a:rPr lang="en-US" sz="165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early stopping rounds of 50 is applied using the validation set to prevent from overfitting</a:t>
            </a:r>
            <a:endParaRPr dirty="0"/>
          </a:p>
        </p:txBody>
      </p:sp>
      <p:sp>
        <p:nvSpPr>
          <p:cNvPr id="171" name="Google Shape;171;p18"/>
          <p:cNvSpPr txBox="1"/>
          <p:nvPr/>
        </p:nvSpPr>
        <p:spPr>
          <a:xfrm>
            <a:off x="761988" y="3939542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 dirty="0"/>
          </a:p>
        </p:txBody>
      </p:sp>
      <p:sp>
        <p:nvSpPr>
          <p:cNvPr id="172" name="Google Shape;172;p18"/>
          <p:cNvSpPr txBox="1"/>
          <p:nvPr/>
        </p:nvSpPr>
        <p:spPr>
          <a:xfrm>
            <a:off x="1095399" y="1653338"/>
            <a:ext cx="1033457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50" b="1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Trainval</a:t>
            </a:r>
            <a:r>
              <a:rPr lang="en-US" sz="165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set further split into </a:t>
            </a:r>
            <a:r>
              <a:rPr lang="en-US" sz="1650" b="1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Train </a:t>
            </a:r>
            <a:r>
              <a:rPr lang="en-US" sz="165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set</a:t>
            </a:r>
            <a:r>
              <a:rPr lang="en-US" sz="1650" b="1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and </a:t>
            </a:r>
            <a:r>
              <a:rPr lang="en-US" sz="1650" b="1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Validation</a:t>
            </a:r>
            <a:r>
              <a:rPr lang="en-US" sz="165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set by 95/05 for early stopping in </a:t>
            </a:r>
            <a:r>
              <a:rPr lang="en-US" sz="1650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XGBoost</a:t>
            </a:r>
            <a:r>
              <a:rPr lang="en-US" sz="165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73" name="Google Shape;173;p18"/>
          <p:cNvSpPr txBox="1"/>
          <p:nvPr/>
        </p:nvSpPr>
        <p:spPr>
          <a:xfrm>
            <a:off x="762025" y="1672388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pic>
        <p:nvPicPr>
          <p:cNvPr id="3" name="图片 2" descr="文本&#10;&#10;AI 生成的内容可能不正确。">
            <a:extLst>
              <a:ext uri="{FF2B5EF4-FFF2-40B4-BE49-F238E27FC236}">
                <a16:creationId xmlns:a16="http://schemas.microsoft.com/office/drawing/2014/main" id="{109F72CE-DBD6-144C-712C-144C00695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4" y="4859424"/>
            <a:ext cx="9777846" cy="17395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/>
          <p:nvPr/>
        </p:nvSpPr>
        <p:spPr>
          <a:xfrm>
            <a:off x="762000" y="1646039"/>
            <a:ext cx="10668000" cy="2610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9" name="Google Shape;179;p19"/>
          <p:cNvGraphicFramePr/>
          <p:nvPr/>
        </p:nvGraphicFramePr>
        <p:xfrm>
          <a:off x="762000" y="1646039"/>
          <a:ext cx="10667975" cy="2609825"/>
        </p:xfrm>
        <a:graphic>
          <a:graphicData uri="http://schemas.openxmlformats.org/drawingml/2006/table">
            <a:tbl>
              <a:tblPr firstRow="1" bandRow="1">
                <a:noFill/>
                <a:tableStyleId>{56236D82-902C-4141-B577-744DDAEC85C2}</a:tableStyleId>
              </a:tblPr>
              <a:tblGrid>
                <a:gridCol w="29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F172A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Model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F172A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RMSE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F172A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MAE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F172A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R²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OLS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0.4293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0.3151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0.5740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</a:t>
                      </a:r>
                      <a:r>
                        <a:rPr lang="en-US" sz="16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ASSO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0.4308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0.3165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0.5710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1E40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XGBoost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1E40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0.3791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1E40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0.2724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1E40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0.6678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0" name="Google Shape;180;p19"/>
          <p:cNvSpPr/>
          <p:nvPr/>
        </p:nvSpPr>
        <p:spPr>
          <a:xfrm>
            <a:off x="762000" y="2303264"/>
            <a:ext cx="2987873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762000" y="1655564"/>
            <a:ext cx="2988000" cy="19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3749873" y="2303264"/>
            <a:ext cx="2545258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3749873" y="1655564"/>
            <a:ext cx="2545200" cy="19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6295132" y="2303264"/>
            <a:ext cx="25894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6295132" y="1655564"/>
            <a:ext cx="2589460" cy="190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8884592" y="2303264"/>
            <a:ext cx="2545407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8884592" y="1655564"/>
            <a:ext cx="2545407" cy="190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762000" y="2955726"/>
            <a:ext cx="29878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3749873" y="2955726"/>
            <a:ext cx="25452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6295132" y="2955726"/>
            <a:ext cx="25894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8884592" y="2955726"/>
            <a:ext cx="2545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762000" y="3593901"/>
            <a:ext cx="29878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3749873" y="3593901"/>
            <a:ext cx="25452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6295132" y="3593901"/>
            <a:ext cx="25894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8884592" y="3593901"/>
            <a:ext cx="2545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762000" y="4227314"/>
            <a:ext cx="2987873" cy="1905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3749873" y="4227314"/>
            <a:ext cx="2545258" cy="1905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6295132" y="4227314"/>
            <a:ext cx="2589460" cy="1905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8884592" y="4227314"/>
            <a:ext cx="2545407" cy="1905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762000" y="571500"/>
            <a:ext cx="112014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Model Evaluation</a:t>
            </a:r>
            <a:endParaRPr dirty="0"/>
          </a:p>
        </p:txBody>
      </p:sp>
      <p:sp>
        <p:nvSpPr>
          <p:cNvPr id="201" name="Google Shape;201;p19"/>
          <p:cNvSpPr/>
          <p:nvPr/>
        </p:nvSpPr>
        <p:spPr>
          <a:xfrm>
            <a:off x="762000" y="123825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2" name="Google Shape;202;p19"/>
          <p:cNvGrpSpPr/>
          <p:nvPr/>
        </p:nvGrpSpPr>
        <p:grpSpPr>
          <a:xfrm>
            <a:off x="762000" y="4767838"/>
            <a:ext cx="9625275" cy="1152650"/>
            <a:chOff x="762000" y="4767838"/>
            <a:chExt cx="9625275" cy="1152650"/>
          </a:xfrm>
        </p:grpSpPr>
        <p:sp>
          <p:nvSpPr>
            <p:cNvPr id="203" name="Google Shape;203;p19"/>
            <p:cNvSpPr txBox="1"/>
            <p:nvPr/>
          </p:nvSpPr>
          <p:spPr>
            <a:xfrm>
              <a:off x="1095375" y="4767838"/>
              <a:ext cx="92919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dirty="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Metrics:</a:t>
              </a:r>
              <a:r>
                <a:rPr lang="en-US" sz="1650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RMSE, MAE, and R^2 are used to evaluate the model performance</a:t>
              </a:r>
              <a:endParaRPr dirty="0"/>
            </a:p>
          </p:txBody>
        </p:sp>
        <p:sp>
          <p:nvSpPr>
            <p:cNvPr id="204" name="Google Shape;204;p19"/>
            <p:cNvSpPr txBox="1"/>
            <p:nvPr/>
          </p:nvSpPr>
          <p:spPr>
            <a:xfrm>
              <a:off x="762000" y="4786892"/>
              <a:ext cx="76200" cy="1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99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■</a:t>
              </a:r>
              <a:endParaRPr/>
            </a:p>
          </p:txBody>
        </p:sp>
        <p:sp>
          <p:nvSpPr>
            <p:cNvPr id="205" name="Google Shape;205;p19"/>
            <p:cNvSpPr txBox="1"/>
            <p:nvPr/>
          </p:nvSpPr>
          <p:spPr>
            <a:xfrm>
              <a:off x="1095375" y="5217113"/>
              <a:ext cx="92919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dirty="0" err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XGBoost</a:t>
              </a:r>
              <a:r>
                <a:rPr lang="en-US" sz="1650" b="1" dirty="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:</a:t>
              </a:r>
              <a:r>
                <a:rPr lang="en-US" sz="1650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clearly outperforms both linear models</a:t>
              </a:r>
              <a:endParaRPr dirty="0"/>
            </a:p>
          </p:txBody>
        </p:sp>
        <p:sp>
          <p:nvSpPr>
            <p:cNvPr id="206" name="Google Shape;206;p19"/>
            <p:cNvSpPr txBox="1"/>
            <p:nvPr/>
          </p:nvSpPr>
          <p:spPr>
            <a:xfrm>
              <a:off x="762000" y="5256767"/>
              <a:ext cx="76200" cy="1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99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■</a:t>
              </a:r>
              <a:endParaRPr/>
            </a:p>
          </p:txBody>
        </p:sp>
        <p:sp>
          <p:nvSpPr>
            <p:cNvPr id="207" name="Google Shape;207;p19"/>
            <p:cNvSpPr txBox="1"/>
            <p:nvPr/>
          </p:nvSpPr>
          <p:spPr>
            <a:xfrm>
              <a:off x="1095375" y="5666388"/>
              <a:ext cx="92919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dirty="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LASSO:</a:t>
              </a:r>
              <a:r>
                <a:rPr lang="en-US" sz="1650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does not improve on OLS</a:t>
              </a:r>
              <a:endParaRPr dirty="0"/>
            </a:p>
          </p:txBody>
        </p:sp>
        <p:sp>
          <p:nvSpPr>
            <p:cNvPr id="208" name="Google Shape;208;p19"/>
            <p:cNvSpPr txBox="1"/>
            <p:nvPr/>
          </p:nvSpPr>
          <p:spPr>
            <a:xfrm>
              <a:off x="762000" y="5685442"/>
              <a:ext cx="76200" cy="1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99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■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0"/>
          <p:cNvSpPr txBox="1"/>
          <p:nvPr/>
        </p:nvSpPr>
        <p:spPr>
          <a:xfrm>
            <a:off x="762000" y="571500"/>
            <a:ext cx="112014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Why </a:t>
            </a:r>
            <a:r>
              <a:rPr lang="en-US" sz="3300" b="1" dirty="0" err="1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XGBoost</a:t>
            </a:r>
            <a:r>
              <a:rPr lang="en-US" sz="3300" b="1" dirty="0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 wins: PDP shows nonlinear effects</a:t>
            </a:r>
            <a:endParaRPr dirty="0"/>
          </a:p>
        </p:txBody>
      </p:sp>
      <p:sp>
        <p:nvSpPr>
          <p:cNvPr id="214" name="Google Shape;214;p20"/>
          <p:cNvSpPr/>
          <p:nvPr/>
        </p:nvSpPr>
        <p:spPr>
          <a:xfrm>
            <a:off x="762000" y="12382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5" name="Google Shape;215;p20"/>
          <p:cNvGrpSpPr/>
          <p:nvPr/>
        </p:nvGrpSpPr>
        <p:grpSpPr>
          <a:xfrm>
            <a:off x="860675" y="5891463"/>
            <a:ext cx="9625275" cy="601375"/>
            <a:chOff x="860675" y="5575688"/>
            <a:chExt cx="9625275" cy="601375"/>
          </a:xfrm>
        </p:grpSpPr>
        <p:grpSp>
          <p:nvGrpSpPr>
            <p:cNvPr id="216" name="Google Shape;216;p20"/>
            <p:cNvGrpSpPr/>
            <p:nvPr/>
          </p:nvGrpSpPr>
          <p:grpSpPr>
            <a:xfrm>
              <a:off x="860675" y="5575688"/>
              <a:ext cx="9625275" cy="254100"/>
              <a:chOff x="762000" y="5210563"/>
              <a:chExt cx="9625275" cy="254100"/>
            </a:xfrm>
          </p:grpSpPr>
          <p:sp>
            <p:nvSpPr>
              <p:cNvPr id="217" name="Google Shape;217;p20"/>
              <p:cNvSpPr txBox="1"/>
              <p:nvPr/>
            </p:nvSpPr>
            <p:spPr>
              <a:xfrm>
                <a:off x="1095375" y="5210563"/>
                <a:ext cx="9291900" cy="2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Impacts of numerical variables on house price demonstrate strong nonlinearity</a:t>
                </a:r>
                <a:endParaRPr sz="16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8" name="Google Shape;218;p20"/>
              <p:cNvSpPr txBox="1"/>
              <p:nvPr/>
            </p:nvSpPr>
            <p:spPr>
              <a:xfrm>
                <a:off x="762000" y="5256767"/>
                <a:ext cx="76200" cy="1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5990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0" i="0" u="none" strike="noStrike" cap="none">
                    <a:solidFill>
                      <a:srgbClr val="3B82F6"/>
                    </a:solidFill>
                    <a:latin typeface="Inter"/>
                    <a:ea typeface="Inter"/>
                    <a:cs typeface="Inter"/>
                    <a:sym typeface="Inter"/>
                  </a:rPr>
                  <a:t>■</a:t>
                </a:r>
                <a:endParaRPr/>
              </a:p>
            </p:txBody>
          </p:sp>
        </p:grpSp>
        <p:grpSp>
          <p:nvGrpSpPr>
            <p:cNvPr id="219" name="Google Shape;219;p20"/>
            <p:cNvGrpSpPr/>
            <p:nvPr/>
          </p:nvGrpSpPr>
          <p:grpSpPr>
            <a:xfrm>
              <a:off x="860675" y="5922963"/>
              <a:ext cx="9625275" cy="254100"/>
              <a:chOff x="762000" y="5287063"/>
              <a:chExt cx="9625275" cy="254100"/>
            </a:xfrm>
          </p:grpSpPr>
          <p:sp>
            <p:nvSpPr>
              <p:cNvPr id="220" name="Google Shape;220;p20"/>
              <p:cNvSpPr txBox="1"/>
              <p:nvPr/>
            </p:nvSpPr>
            <p:spPr>
              <a:xfrm>
                <a:off x="1095375" y="5287063"/>
                <a:ext cx="9291900" cy="2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XGBoost performance elevation due to capacity to capture nonlinear characteristics</a:t>
                </a:r>
                <a:endParaRPr/>
              </a:p>
            </p:txBody>
          </p:sp>
          <p:sp>
            <p:nvSpPr>
              <p:cNvPr id="221" name="Google Shape;221;p20"/>
              <p:cNvSpPr txBox="1"/>
              <p:nvPr/>
            </p:nvSpPr>
            <p:spPr>
              <a:xfrm>
                <a:off x="762000" y="5306117"/>
                <a:ext cx="76200" cy="1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5990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0" i="0" u="none" strike="noStrike" cap="none">
                    <a:solidFill>
                      <a:srgbClr val="3B82F6"/>
                    </a:solidFill>
                    <a:latin typeface="Inter"/>
                    <a:ea typeface="Inter"/>
                    <a:cs typeface="Inter"/>
                    <a:sym typeface="Inter"/>
                  </a:rPr>
                  <a:t>■</a:t>
                </a:r>
                <a:endParaRPr/>
              </a:p>
            </p:txBody>
          </p:sp>
        </p:grpSp>
      </p:grpSp>
      <p:pic>
        <p:nvPicPr>
          <p:cNvPr id="3" name="图片 2" descr="图表&#10;&#10;AI 生成的内容可能不正确。">
            <a:extLst>
              <a:ext uri="{FF2B5EF4-FFF2-40B4-BE49-F238E27FC236}">
                <a16:creationId xmlns:a16="http://schemas.microsoft.com/office/drawing/2014/main" id="{6A6D6412-F1D7-E409-FEDC-DBF82E1D4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096" y="1257450"/>
            <a:ext cx="9713807" cy="47301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"/>
          <p:cNvSpPr txBox="1"/>
          <p:nvPr/>
        </p:nvSpPr>
        <p:spPr>
          <a:xfrm>
            <a:off x="761999" y="571500"/>
            <a:ext cx="1164474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Errors are large at ends of price distribution</a:t>
            </a:r>
            <a:endParaRPr dirty="0"/>
          </a:p>
        </p:txBody>
      </p:sp>
      <p:sp>
        <p:nvSpPr>
          <p:cNvPr id="228" name="Google Shape;228;p21"/>
          <p:cNvSpPr/>
          <p:nvPr/>
        </p:nvSpPr>
        <p:spPr>
          <a:xfrm>
            <a:off x="762000" y="12382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0" name="Google Shape;230;p21"/>
          <p:cNvGrpSpPr/>
          <p:nvPr/>
        </p:nvGrpSpPr>
        <p:grpSpPr>
          <a:xfrm>
            <a:off x="860675" y="5575688"/>
            <a:ext cx="9625275" cy="254100"/>
            <a:chOff x="762000" y="5210563"/>
            <a:chExt cx="9625275" cy="254100"/>
          </a:xfrm>
        </p:grpSpPr>
        <p:sp>
          <p:nvSpPr>
            <p:cNvPr id="231" name="Google Shape;231;p21"/>
            <p:cNvSpPr txBox="1"/>
            <p:nvPr/>
          </p:nvSpPr>
          <p:spPr>
            <a:xfrm>
              <a:off x="1095375" y="5210563"/>
              <a:ext cx="92919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dirty="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Mid range house prices are much easier to predict</a:t>
              </a:r>
              <a:endParaRPr sz="1650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32" name="Google Shape;232;p21"/>
            <p:cNvSpPr txBox="1"/>
            <p:nvPr/>
          </p:nvSpPr>
          <p:spPr>
            <a:xfrm>
              <a:off x="762000" y="5256767"/>
              <a:ext cx="76200" cy="1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99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■</a:t>
              </a:r>
              <a:endParaRPr/>
            </a:p>
          </p:txBody>
        </p:sp>
      </p:grpSp>
      <p:grpSp>
        <p:nvGrpSpPr>
          <p:cNvPr id="233" name="Google Shape;233;p21"/>
          <p:cNvGrpSpPr/>
          <p:nvPr/>
        </p:nvGrpSpPr>
        <p:grpSpPr>
          <a:xfrm>
            <a:off x="860675" y="5922963"/>
            <a:ext cx="9625275" cy="254100"/>
            <a:chOff x="762000" y="5287063"/>
            <a:chExt cx="9625275" cy="254100"/>
          </a:xfrm>
        </p:grpSpPr>
        <p:sp>
          <p:nvSpPr>
            <p:cNvPr id="234" name="Google Shape;234;p21"/>
            <p:cNvSpPr txBox="1"/>
            <p:nvPr/>
          </p:nvSpPr>
          <p:spPr>
            <a:xfrm>
              <a:off x="1095375" y="5287063"/>
              <a:ext cx="92919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Predictions errors are larger at both tails of the price distribution</a:t>
              </a:r>
              <a:endParaRPr/>
            </a:p>
          </p:txBody>
        </p:sp>
        <p:sp>
          <p:nvSpPr>
            <p:cNvPr id="235" name="Google Shape;235;p21"/>
            <p:cNvSpPr txBox="1"/>
            <p:nvPr/>
          </p:nvSpPr>
          <p:spPr>
            <a:xfrm>
              <a:off x="762000" y="5306117"/>
              <a:ext cx="76200" cy="1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99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■</a:t>
              </a:r>
              <a:endParaRPr/>
            </a:p>
          </p:txBody>
        </p:sp>
      </p:grpSp>
      <p:grpSp>
        <p:nvGrpSpPr>
          <p:cNvPr id="236" name="Google Shape;236;p21"/>
          <p:cNvGrpSpPr/>
          <p:nvPr/>
        </p:nvGrpSpPr>
        <p:grpSpPr>
          <a:xfrm>
            <a:off x="860675" y="6270238"/>
            <a:ext cx="9625275" cy="254100"/>
            <a:chOff x="762000" y="5287063"/>
            <a:chExt cx="9625275" cy="254100"/>
          </a:xfrm>
        </p:grpSpPr>
        <p:sp>
          <p:nvSpPr>
            <p:cNvPr id="237" name="Google Shape;237;p21"/>
            <p:cNvSpPr txBox="1"/>
            <p:nvPr/>
          </p:nvSpPr>
          <p:spPr>
            <a:xfrm>
              <a:off x="1095375" y="5287063"/>
              <a:ext cx="92919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dirty="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Highly predictable variables are missing: crime rate, community quality, school district, etc.</a:t>
              </a:r>
              <a:endParaRPr dirty="0"/>
            </a:p>
          </p:txBody>
        </p:sp>
        <p:sp>
          <p:nvSpPr>
            <p:cNvPr id="238" name="Google Shape;238;p21"/>
            <p:cNvSpPr txBox="1"/>
            <p:nvPr/>
          </p:nvSpPr>
          <p:spPr>
            <a:xfrm>
              <a:off x="762000" y="5306117"/>
              <a:ext cx="76200" cy="1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99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■</a:t>
              </a:r>
              <a:endParaRPr/>
            </a:p>
          </p:txBody>
        </p:sp>
      </p:grpSp>
      <p:pic>
        <p:nvPicPr>
          <p:cNvPr id="3" name="图片 2" descr="图表, 折线图&#10;&#10;AI 生成的内容可能不正确。">
            <a:extLst>
              <a:ext uri="{FF2B5EF4-FFF2-40B4-BE49-F238E27FC236}">
                <a16:creationId xmlns:a16="http://schemas.microsoft.com/office/drawing/2014/main" id="{FB8D8E3B-CE69-0875-D23D-DD4FA5E6F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789" y="1384515"/>
            <a:ext cx="11269435" cy="40247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6686610-69AA-9893-A899-56978422DF84}"/>
              </a:ext>
            </a:extLst>
          </p:cNvPr>
          <p:cNvGrpSpPr/>
          <p:nvPr/>
        </p:nvGrpSpPr>
        <p:grpSpPr>
          <a:xfrm>
            <a:off x="762000" y="1626492"/>
            <a:ext cx="7238999" cy="406265"/>
            <a:chOff x="762000" y="1626492"/>
            <a:chExt cx="7238999" cy="406265"/>
          </a:xfrm>
        </p:grpSpPr>
        <p:sp>
          <p:nvSpPr>
            <p:cNvPr id="244" name="Google Shape;244;p22"/>
            <p:cNvSpPr txBox="1"/>
            <p:nvPr/>
          </p:nvSpPr>
          <p:spPr>
            <a:xfrm>
              <a:off x="1095374" y="1626492"/>
              <a:ext cx="6905625" cy="4062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 err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XGBoost</a:t>
              </a:r>
              <a:r>
                <a:rPr lang="en-US" sz="1650" b="0" i="0" u="none" strike="noStrike" cap="none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provides the best predictive performance</a:t>
              </a:r>
              <a:endParaRPr dirty="0"/>
            </a:p>
          </p:txBody>
        </p:sp>
        <p:sp>
          <p:nvSpPr>
            <p:cNvPr id="249" name="Google Shape;249;p22"/>
            <p:cNvSpPr txBox="1"/>
            <p:nvPr/>
          </p:nvSpPr>
          <p:spPr>
            <a:xfrm>
              <a:off x="762000" y="1657350"/>
              <a:ext cx="76200" cy="209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99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 dirty="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■</a:t>
              </a:r>
              <a:endParaRPr dirty="0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D013FDD1-8568-CBE5-2220-A4CA367583F3}"/>
              </a:ext>
            </a:extLst>
          </p:cNvPr>
          <p:cNvGrpSpPr/>
          <p:nvPr/>
        </p:nvGrpSpPr>
        <p:grpSpPr>
          <a:xfrm>
            <a:off x="762000" y="2096533"/>
            <a:ext cx="8891155" cy="406265"/>
            <a:chOff x="762000" y="2448291"/>
            <a:chExt cx="8891155" cy="406265"/>
          </a:xfrm>
        </p:grpSpPr>
        <p:sp>
          <p:nvSpPr>
            <p:cNvPr id="245" name="Google Shape;245;p22"/>
            <p:cNvSpPr txBox="1"/>
            <p:nvPr/>
          </p:nvSpPr>
          <p:spPr>
            <a:xfrm>
              <a:off x="1095374" y="2448291"/>
              <a:ext cx="8557781" cy="4062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Housing prices exhibit important nonlinearities and spatial heterogeneity (Appendix 1)</a:t>
              </a:r>
              <a:endParaRPr dirty="0"/>
            </a:p>
          </p:txBody>
        </p:sp>
        <p:sp>
          <p:nvSpPr>
            <p:cNvPr id="250" name="Google Shape;250;p22"/>
            <p:cNvSpPr txBox="1"/>
            <p:nvPr/>
          </p:nvSpPr>
          <p:spPr>
            <a:xfrm>
              <a:off x="762000" y="2499121"/>
              <a:ext cx="76200" cy="209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99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 dirty="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■</a:t>
              </a:r>
              <a:endParaRPr dirty="0"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D609D17B-7E89-30CC-3C9B-561E4F68ED7C}"/>
              </a:ext>
            </a:extLst>
          </p:cNvPr>
          <p:cNvGrpSpPr/>
          <p:nvPr/>
        </p:nvGrpSpPr>
        <p:grpSpPr>
          <a:xfrm>
            <a:off x="762000" y="2595249"/>
            <a:ext cx="8756072" cy="406265"/>
            <a:chOff x="762000" y="3259498"/>
            <a:chExt cx="8756072" cy="406265"/>
          </a:xfrm>
        </p:grpSpPr>
        <p:sp>
          <p:nvSpPr>
            <p:cNvPr id="246" name="Google Shape;246;p22"/>
            <p:cNvSpPr txBox="1"/>
            <p:nvPr/>
          </p:nvSpPr>
          <p:spPr>
            <a:xfrm>
              <a:off x="1095374" y="3259498"/>
              <a:ext cx="8422698" cy="4062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LASSO does not improve over OLS in this setting</a:t>
              </a:r>
              <a:endParaRPr dirty="0"/>
            </a:p>
          </p:txBody>
        </p:sp>
        <p:sp>
          <p:nvSpPr>
            <p:cNvPr id="251" name="Google Shape;251;p22"/>
            <p:cNvSpPr txBox="1"/>
            <p:nvPr/>
          </p:nvSpPr>
          <p:spPr>
            <a:xfrm>
              <a:off x="762000" y="3340893"/>
              <a:ext cx="76200" cy="209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99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 dirty="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■</a:t>
              </a:r>
              <a:endParaRPr dirty="0"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74AED56C-3D27-52E8-5289-FE78F858D2EE}"/>
              </a:ext>
            </a:extLst>
          </p:cNvPr>
          <p:cNvGrpSpPr/>
          <p:nvPr/>
        </p:nvGrpSpPr>
        <p:grpSpPr>
          <a:xfrm>
            <a:off x="762000" y="3093966"/>
            <a:ext cx="9043555" cy="812530"/>
            <a:chOff x="762000" y="4517228"/>
            <a:chExt cx="9043555" cy="812530"/>
          </a:xfrm>
        </p:grpSpPr>
        <p:sp>
          <p:nvSpPr>
            <p:cNvPr id="247" name="Google Shape;247;p22"/>
            <p:cNvSpPr txBox="1"/>
            <p:nvPr/>
          </p:nvSpPr>
          <p:spPr>
            <a:xfrm>
              <a:off x="1095375" y="4517228"/>
              <a:ext cx="8710180" cy="8125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Challenge:</a:t>
              </a:r>
              <a:r>
                <a:rPr lang="en-US" sz="1650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Low price and High price houses are difficult to predict using coarse-grained data</a:t>
              </a:r>
              <a:endParaRPr dirty="0"/>
            </a:p>
          </p:txBody>
        </p:sp>
        <p:sp>
          <p:nvSpPr>
            <p:cNvPr id="252" name="Google Shape;252;p22"/>
            <p:cNvSpPr txBox="1"/>
            <p:nvPr/>
          </p:nvSpPr>
          <p:spPr>
            <a:xfrm>
              <a:off x="762000" y="4589165"/>
              <a:ext cx="76200" cy="1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99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 dirty="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■</a:t>
              </a:r>
              <a:endParaRPr dirty="0"/>
            </a:p>
          </p:txBody>
        </p:sp>
      </p:grpSp>
      <p:sp>
        <p:nvSpPr>
          <p:cNvPr id="257" name="Google Shape;257;p22"/>
          <p:cNvSpPr txBox="1"/>
          <p:nvPr/>
        </p:nvSpPr>
        <p:spPr>
          <a:xfrm>
            <a:off x="762000" y="571500"/>
            <a:ext cx="112014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 and Next Steps</a:t>
            </a:r>
            <a:endParaRPr/>
          </a:p>
        </p:txBody>
      </p:sp>
      <p:sp>
        <p:nvSpPr>
          <p:cNvPr id="258" name="Google Shape;258;p22"/>
          <p:cNvSpPr/>
          <p:nvPr/>
        </p:nvSpPr>
        <p:spPr>
          <a:xfrm>
            <a:off x="762000" y="123825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F5267EB6-1D4E-1617-5584-41983C5DBDFE}"/>
              </a:ext>
            </a:extLst>
          </p:cNvPr>
          <p:cNvGrpSpPr/>
          <p:nvPr/>
        </p:nvGrpSpPr>
        <p:grpSpPr>
          <a:xfrm>
            <a:off x="762000" y="4184987"/>
            <a:ext cx="8756072" cy="2031325"/>
            <a:chOff x="762000" y="3259498"/>
            <a:chExt cx="8756072" cy="2031325"/>
          </a:xfrm>
        </p:grpSpPr>
        <p:sp>
          <p:nvSpPr>
            <p:cNvPr id="7" name="Google Shape;246;p22">
              <a:extLst>
                <a:ext uri="{FF2B5EF4-FFF2-40B4-BE49-F238E27FC236}">
                  <a16:creationId xmlns:a16="http://schemas.microsoft.com/office/drawing/2014/main" id="{A0B9008E-BE98-F98C-D256-BBEB1D22BEBE}"/>
                </a:ext>
              </a:extLst>
            </p:cNvPr>
            <p:cNvSpPr txBox="1"/>
            <p:nvPr/>
          </p:nvSpPr>
          <p:spPr>
            <a:xfrm>
              <a:off x="1095374" y="3259498"/>
              <a:ext cx="8422698" cy="2031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60000"/>
                </a:lnSpc>
              </a:pPr>
              <a:r>
                <a:rPr lang="en-US" sz="1650" dirty="0">
                  <a:solidFill>
                    <a:srgbClr val="334155"/>
                  </a:solidFill>
                  <a:latin typeface="Inter"/>
                  <a:ea typeface="Inter"/>
                  <a:sym typeface="Inter"/>
                </a:rPr>
                <a:t>If time permitting:</a:t>
              </a:r>
            </a:p>
            <a:p>
              <a:pPr marL="342900" indent="-342900">
                <a:lnSpc>
                  <a:spcPct val="160000"/>
                </a:lnSpc>
                <a:buAutoNum type="arabicPeriod"/>
              </a:pPr>
              <a:r>
                <a:rPr lang="en-US" altLang="zh-CN" sz="1650" dirty="0">
                  <a:solidFill>
                    <a:srgbClr val="334155"/>
                  </a:solidFill>
                  <a:latin typeface="Inter"/>
                  <a:ea typeface="Inter"/>
                </a:rPr>
                <a:t>Add variables with richer information like crime rate, community quality , school district, etc.</a:t>
              </a:r>
            </a:p>
            <a:p>
              <a:pPr marL="342900" indent="-342900">
                <a:lnSpc>
                  <a:spcPct val="160000"/>
                </a:lnSpc>
                <a:buAutoNum type="arabicPeriod"/>
              </a:pPr>
              <a:r>
                <a:rPr lang="en-US" altLang="zh-CN" sz="1650" dirty="0">
                  <a:solidFill>
                    <a:srgbClr val="334155"/>
                  </a:solidFill>
                  <a:latin typeface="Inter"/>
                  <a:ea typeface="Inter"/>
                </a:rPr>
                <a:t>Explore other models like random forest or neural network</a:t>
              </a:r>
            </a:p>
            <a:p>
              <a:pPr marL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650" dirty="0">
                <a:solidFill>
                  <a:srgbClr val="334155"/>
                </a:solidFill>
                <a:latin typeface="Inter"/>
                <a:ea typeface="Inter"/>
                <a:sym typeface="Inter"/>
              </a:endParaRPr>
            </a:p>
          </p:txBody>
        </p:sp>
        <p:sp>
          <p:nvSpPr>
            <p:cNvPr id="8" name="Google Shape;251;p22">
              <a:extLst>
                <a:ext uri="{FF2B5EF4-FFF2-40B4-BE49-F238E27FC236}">
                  <a16:creationId xmlns:a16="http://schemas.microsoft.com/office/drawing/2014/main" id="{9EDAF9BB-D253-F84A-7664-827D6F20850B}"/>
                </a:ext>
              </a:extLst>
            </p:cNvPr>
            <p:cNvSpPr txBox="1"/>
            <p:nvPr/>
          </p:nvSpPr>
          <p:spPr>
            <a:xfrm>
              <a:off x="762000" y="3340893"/>
              <a:ext cx="76200" cy="209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99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 dirty="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■</a:t>
              </a:r>
              <a:endParaRPr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3"/>
          <p:cNvSpPr txBox="1"/>
          <p:nvPr/>
        </p:nvSpPr>
        <p:spPr>
          <a:xfrm>
            <a:off x="2504100" y="2837100"/>
            <a:ext cx="7183800" cy="5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4"/>
          <p:cNvSpPr txBox="1"/>
          <p:nvPr/>
        </p:nvSpPr>
        <p:spPr>
          <a:xfrm>
            <a:off x="762000" y="571500"/>
            <a:ext cx="112014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Appendix 1: Variable Importance </a:t>
            </a:r>
            <a:endParaRPr/>
          </a:p>
        </p:txBody>
      </p:sp>
      <p:sp>
        <p:nvSpPr>
          <p:cNvPr id="269" name="Google Shape;269;p24"/>
          <p:cNvSpPr/>
          <p:nvPr/>
        </p:nvSpPr>
        <p:spPr>
          <a:xfrm>
            <a:off x="762000" y="12382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图片 2" descr="图片包含 日历&#10;&#10;AI 生成的内容可能不正确。">
            <a:extLst>
              <a:ext uri="{FF2B5EF4-FFF2-40B4-BE49-F238E27FC236}">
                <a16:creationId xmlns:a16="http://schemas.microsoft.com/office/drawing/2014/main" id="{CFBF21B3-5BC9-2BB2-B2F6-AF96D4D78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1257450"/>
            <a:ext cx="10283536" cy="55898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5"/>
          <p:cNvSpPr txBox="1"/>
          <p:nvPr/>
        </p:nvSpPr>
        <p:spPr>
          <a:xfrm>
            <a:off x="762000" y="571500"/>
            <a:ext cx="112014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Appendix 2: Model Fitness </a:t>
            </a:r>
            <a:endParaRPr/>
          </a:p>
        </p:txBody>
      </p:sp>
      <p:sp>
        <p:nvSpPr>
          <p:cNvPr id="276" name="Google Shape;276;p25"/>
          <p:cNvSpPr/>
          <p:nvPr/>
        </p:nvSpPr>
        <p:spPr>
          <a:xfrm>
            <a:off x="762000" y="12382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图片 2" descr="图表&#10;&#10;AI 生成的内容可能不正确。">
            <a:extLst>
              <a:ext uri="{FF2B5EF4-FFF2-40B4-BE49-F238E27FC236}">
                <a16:creationId xmlns:a16="http://schemas.microsoft.com/office/drawing/2014/main" id="{BAEAB35A-CA22-0470-26FF-AB0862DBA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8495" y="1247850"/>
            <a:ext cx="4735010" cy="56005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6"/>
          <p:cNvSpPr txBox="1"/>
          <p:nvPr/>
        </p:nvSpPr>
        <p:spPr>
          <a:xfrm>
            <a:off x="762000" y="571500"/>
            <a:ext cx="112014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Appendix 3: OLS Results </a:t>
            </a:r>
            <a:endParaRPr/>
          </a:p>
        </p:txBody>
      </p:sp>
      <p:sp>
        <p:nvSpPr>
          <p:cNvPr id="283" name="Google Shape;283;p26"/>
          <p:cNvSpPr/>
          <p:nvPr/>
        </p:nvSpPr>
        <p:spPr>
          <a:xfrm>
            <a:off x="762000" y="12382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图片 2" descr="图片包含 文本&#10;&#10;AI 生成的内容可能不正确。">
            <a:extLst>
              <a:ext uri="{FF2B5EF4-FFF2-40B4-BE49-F238E27FC236}">
                <a16:creationId xmlns:a16="http://schemas.microsoft.com/office/drawing/2014/main" id="{C81BA3AA-5D55-C79D-CD92-4E369C7A3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186" y="1522117"/>
            <a:ext cx="9693627" cy="452697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7"/>
          <p:cNvSpPr txBox="1"/>
          <p:nvPr/>
        </p:nvSpPr>
        <p:spPr>
          <a:xfrm>
            <a:off x="762000" y="571500"/>
            <a:ext cx="112014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Appendix 4: LASSO Results</a:t>
            </a:r>
            <a:endParaRPr/>
          </a:p>
        </p:txBody>
      </p:sp>
      <p:sp>
        <p:nvSpPr>
          <p:cNvPr id="290" name="Google Shape;290;p27"/>
          <p:cNvSpPr/>
          <p:nvPr/>
        </p:nvSpPr>
        <p:spPr>
          <a:xfrm>
            <a:off x="762000" y="12382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图片 2" descr="文本&#10;&#10;AI 生成的内容可能不正确。">
            <a:extLst>
              <a:ext uri="{FF2B5EF4-FFF2-40B4-BE49-F238E27FC236}">
                <a16:creationId xmlns:a16="http://schemas.microsoft.com/office/drawing/2014/main" id="{FF877FB8-8D5C-CFA8-9AF6-E5363A537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9061" y="1416300"/>
            <a:ext cx="7353878" cy="501177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>
          <a:extLst>
            <a:ext uri="{FF2B5EF4-FFF2-40B4-BE49-F238E27FC236}">
              <a16:creationId xmlns:a16="http://schemas.microsoft.com/office/drawing/2014/main" id="{795F2F5D-9381-5135-DE3E-F27BF4238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7">
            <a:extLst>
              <a:ext uri="{FF2B5EF4-FFF2-40B4-BE49-F238E27FC236}">
                <a16:creationId xmlns:a16="http://schemas.microsoft.com/office/drawing/2014/main" id="{314049CB-8ADE-A1BF-3DD9-CE36D4E23CB1}"/>
              </a:ext>
            </a:extLst>
          </p:cNvPr>
          <p:cNvSpPr txBox="1"/>
          <p:nvPr/>
        </p:nvSpPr>
        <p:spPr>
          <a:xfrm>
            <a:off x="762000" y="571500"/>
            <a:ext cx="112014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Reference</a:t>
            </a:r>
            <a:endParaRPr dirty="0"/>
          </a:p>
        </p:txBody>
      </p:sp>
      <p:sp>
        <p:nvSpPr>
          <p:cNvPr id="290" name="Google Shape;290;p27">
            <a:extLst>
              <a:ext uri="{FF2B5EF4-FFF2-40B4-BE49-F238E27FC236}">
                <a16:creationId xmlns:a16="http://schemas.microsoft.com/office/drawing/2014/main" id="{D0AC0465-AD42-D34E-069F-EA8DF771A0C7}"/>
              </a:ext>
            </a:extLst>
          </p:cNvPr>
          <p:cNvSpPr/>
          <p:nvPr/>
        </p:nvSpPr>
        <p:spPr>
          <a:xfrm>
            <a:off x="762000" y="12382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46;p22">
            <a:extLst>
              <a:ext uri="{FF2B5EF4-FFF2-40B4-BE49-F238E27FC236}">
                <a16:creationId xmlns:a16="http://schemas.microsoft.com/office/drawing/2014/main" id="{68B59FF6-1EE8-6B27-B559-F3AAF877906C}"/>
              </a:ext>
            </a:extLst>
          </p:cNvPr>
          <p:cNvSpPr txBox="1"/>
          <p:nvPr/>
        </p:nvSpPr>
        <p:spPr>
          <a:xfrm>
            <a:off x="762000" y="1416300"/>
            <a:ext cx="10668000" cy="1523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sz="1650" dirty="0">
                <a:solidFill>
                  <a:srgbClr val="334155"/>
                </a:solidFill>
                <a:latin typeface="Inter"/>
                <a:ea typeface="Inter"/>
              </a:rPr>
              <a:t>Hjort, A., </a:t>
            </a:r>
            <a:r>
              <a:rPr lang="en-US" altLang="zh-CN" sz="1650" dirty="0" err="1">
                <a:solidFill>
                  <a:srgbClr val="334155"/>
                </a:solidFill>
                <a:latin typeface="Inter"/>
                <a:ea typeface="Inter"/>
              </a:rPr>
              <a:t>Pensar</a:t>
            </a:r>
            <a:r>
              <a:rPr lang="en-US" altLang="zh-CN" sz="1650" dirty="0">
                <a:solidFill>
                  <a:srgbClr val="334155"/>
                </a:solidFill>
                <a:latin typeface="Inter"/>
                <a:ea typeface="Inter"/>
              </a:rPr>
              <a:t>, J., Scheel, I., &amp; Sommervoll, D. E. (2022). House price prediction with gradient boosted trees under different loss functions. Journal of Property Research, 39(4), 338-364.</a:t>
            </a:r>
          </a:p>
          <a:p>
            <a:pPr marL="342900" indent="-342900">
              <a:buAutoNum type="arabicPeriod"/>
            </a:pPr>
            <a:r>
              <a:rPr lang="en-US" altLang="zh-CN" sz="1650" dirty="0">
                <a:solidFill>
                  <a:srgbClr val="334155"/>
                </a:solidFill>
                <a:latin typeface="Inter"/>
                <a:ea typeface="Inter"/>
              </a:rPr>
              <a:t>Rosen, S. (1974). Hedonic prices and implicit markets: product differentiation in pure competition. Journal of political economy, 82(1), 34-55.</a:t>
            </a:r>
          </a:p>
          <a:p>
            <a:pPr marL="342900" indent="-342900">
              <a:buAutoNum type="arabicPeriod"/>
            </a:pPr>
            <a:r>
              <a:rPr lang="en-US" altLang="zh-CN" sz="1650" dirty="0">
                <a:solidFill>
                  <a:srgbClr val="334155"/>
                </a:solidFill>
                <a:latin typeface="Inter"/>
                <a:ea typeface="Inter"/>
              </a:rPr>
              <a:t>Sharma, H., </a:t>
            </a:r>
            <a:r>
              <a:rPr lang="en-US" altLang="zh-CN" sz="1650" dirty="0" err="1">
                <a:solidFill>
                  <a:srgbClr val="334155"/>
                </a:solidFill>
                <a:latin typeface="Inter"/>
                <a:ea typeface="Inter"/>
              </a:rPr>
              <a:t>Harsora</a:t>
            </a:r>
            <a:r>
              <a:rPr lang="en-US" altLang="zh-CN" sz="1650" dirty="0">
                <a:solidFill>
                  <a:srgbClr val="334155"/>
                </a:solidFill>
                <a:latin typeface="Inter"/>
                <a:ea typeface="Inter"/>
              </a:rPr>
              <a:t>, H., &amp; Ogunleye, B. (2024). An optimal house price prediction algorithm: </a:t>
            </a:r>
            <a:r>
              <a:rPr lang="en-US" altLang="zh-CN" sz="1650" dirty="0" err="1">
                <a:solidFill>
                  <a:srgbClr val="334155"/>
                </a:solidFill>
                <a:latin typeface="Inter"/>
                <a:ea typeface="Inter"/>
              </a:rPr>
              <a:t>XGBoost</a:t>
            </a:r>
            <a:r>
              <a:rPr lang="en-US" altLang="zh-CN" sz="1650" dirty="0">
                <a:solidFill>
                  <a:srgbClr val="334155"/>
                </a:solidFill>
                <a:latin typeface="Inter"/>
                <a:ea typeface="Inter"/>
              </a:rPr>
              <a:t>. Analytics, 3(1), 30-45.</a:t>
            </a:r>
          </a:p>
        </p:txBody>
      </p:sp>
    </p:spTree>
    <p:extLst>
      <p:ext uri="{BB962C8B-B14F-4D97-AF65-F5344CB8AC3E}">
        <p14:creationId xmlns:p14="http://schemas.microsoft.com/office/powerpoint/2010/main" val="3419275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707</Words>
  <Application>Microsoft Macintosh PowerPoint</Application>
  <PresentationFormat>宽屏</PresentationFormat>
  <Paragraphs>113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Calibri</vt:lpstr>
      <vt:lpstr>Merriweather</vt:lpstr>
      <vt:lpstr>Arial</vt:lpstr>
      <vt:lpstr>Inter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Jingrui Li</cp:lastModifiedBy>
  <cp:revision>10</cp:revision>
  <dcterms:modified xsi:type="dcterms:W3CDTF">2026-03-17T14:55:00Z</dcterms:modified>
</cp:coreProperties>
</file>